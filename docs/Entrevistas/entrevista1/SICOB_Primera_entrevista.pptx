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80d30fd-c9f0-f454-8f25-22944a064e58}">
          <p14:sldIdLst>
            <p14:sldId id="256"/>
          </p14:sldIdLst>
        </p14:section>
        <p14:section name="Problema" id="{abe9f5b8-27b7-7cb2-91cf-c9c15df40abd}">
          <p14:sldIdLst>
            <p14:sldId id="257"/>
          </p14:sldIdLst>
        </p14:section>
        <p14:section name="Solución" id="{27d807e6-28ef-966a-0513-20b087b9f22b}">
          <p14:sldIdLst>
            <p14:sldId id="258"/>
            <p14:sldId id="259"/>
          </p14:sldIdLst>
        </p14:section>
        <p14:section name="Validación" id="{f362e137-51a6-47ef-d046-4ca6c659804e}">
          <p14:sldIdLst>
            <p14:sldId id="260"/>
          </p14:sldIdLst>
        </p14:section>
        <p14:section name="Cierre" id="{efcc0cf6-30fe-8fa3-2819-1ca27ce04be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primera entrevista del proyecto SICOB.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731520" y="822960"/>
            <a:ext cx="265176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 texto"/>
          <p:cNvSpPr txBox="1"/>
          <p:nvPr/>
        </p:nvSpPr>
        <p:spPr>
          <a:xfrm>
            <a:off x="731520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INGENIERÍA DE SOFTWARE</a:t>
            </a:r>
            <a:endParaRPr lang="en-US" sz="1200" dirty="0"/>
          </a:p>
        </p:txBody>
      </p:sp>
      <p:sp>
        <p:nvSpPr>
          <p:cNvPr id="4" name="Título"/>
          <p:cNvSpPr txBox="1"/>
          <p:nvPr/>
        </p:nvSpPr>
        <p:spPr>
          <a:xfrm>
            <a:off x="731520" y="1325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SICOB</a:t>
            </a:r>
            <a:endParaRPr lang="en-US" sz="6600" dirty="0"/>
          </a:p>
        </p:txBody>
      </p:sp>
      <p:sp>
        <p:nvSpPr>
          <p:cNvPr id="5" name="Subtítulo"/>
          <p:cNvSpPr txBox="1"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Sistema de Comunicación Bidireccional</a:t>
            </a:r>
            <a:endParaRPr lang="en-US" sz="2600" dirty="0"/>
          </a:p>
        </p:txBody>
      </p:sp>
      <p:sp>
        <p:nvSpPr>
          <p:cNvPr id="6" name="Autores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Juan Hernandez · Willy Saenz · Joseph Martinez · Javier Vesga</a:t>
            </a:r>
            <a:endParaRPr lang="en-US" sz="1600" dirty="0"/>
          </a:p>
        </p:txBody>
      </p:sp>
      <p:sp>
        <p:nvSpPr>
          <p:cNvPr id="7" name="Institución"/>
          <p:cNvSpPr txBox="1"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Universidad de los Llanos · Ingeniería de Software I</a:t>
            </a:r>
            <a:endParaRPr lang="en-US" sz="1600" dirty="0"/>
          </a:p>
        </p:txBody>
      </p:sp>
      <p:sp>
        <p:nvSpPr>
          <p:cNvPr id="8" name="Objetivo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Objetivo: validar nuestra comprensión del problema y priorizar la primera versión.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¿Qué necesidad queremos atender?</a:t>
            </a:r>
            <a:endParaRPr lang="en-US" sz="3600" dirty="0"/>
          </a:p>
        </p:txBody>
      </p:sp>
      <p:sp>
        <p:nvSpPr>
          <p:cNvPr id="3" name="Tarjeta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signia 1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nia 1 número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 1"/>
          <p:cNvSpPr txBox="1"/>
          <p:nvPr/>
        </p:nvSpPr>
        <p:spPr>
          <a:xfrm>
            <a:off x="777240" y="23317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Facilitar intercambios cotidianos entre personas sordas o con dificultades del habla y personas oyentes.</a:t>
            </a:r>
            <a:endParaRPr lang="en-US" sz="1600" dirty="0"/>
          </a:p>
        </p:txBody>
      </p:sp>
      <p:sp>
        <p:nvSpPr>
          <p:cNvPr id="7" name="Tarjeta 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nsignia 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nsignia 2 número"/>
          <p:cNvSpPr txBox="1"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o 2"/>
          <p:cNvSpPr txBox="1"/>
          <p:nvPr/>
        </p:nvSpPr>
        <p:spPr>
          <a:xfrm>
            <a:off x="3520440" y="23317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Apoyar frases frecuentes con botones sencillos.</a:t>
            </a:r>
            <a:endParaRPr lang="en-US" sz="1600" dirty="0"/>
          </a:p>
        </p:txBody>
      </p:sp>
      <p:sp>
        <p:nvSpPr>
          <p:cNvPr id="11" name="Tarjeta 3"/>
          <p:cNvSpPr/>
          <p:nvPr/>
        </p:nvSpPr>
        <p:spPr>
          <a:xfrm>
            <a:off x="60350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Insignia 3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signia 3 número"/>
          <p:cNvSpPr txBox="1"/>
          <p:nvPr/>
        </p:nvSpPr>
        <p:spPr>
          <a:xfrm>
            <a:off x="6263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o 3"/>
          <p:cNvSpPr txBox="1"/>
          <p:nvPr/>
        </p:nvSpPr>
        <p:spPr>
          <a:xfrm>
            <a:off x="6263640" y="23317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Explorar mensajes libres mediante texto a voz.</a:t>
            </a:r>
            <a:endParaRPr lang="en-US" sz="1600" dirty="0"/>
          </a:p>
        </p:txBody>
      </p:sp>
      <p:sp>
        <p:nvSpPr>
          <p:cNvPr id="15" name="Nota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Esta es nuestra hipótesis inicial y queremos corregirla con su experiencia.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Flujos que entendemos</a:t>
            </a:r>
            <a:endParaRPr lang="en-US" sz="3600" dirty="0"/>
          </a:p>
        </p:txBody>
      </p:sp>
      <p:sp>
        <p:nvSpPr>
          <p:cNvPr id="3" name="Flujo 1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signia flujo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nia flujo 1 número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Flujo 1 título"/>
          <p:cNvSpPr txBox="1"/>
          <p:nvPr/>
        </p:nvSpPr>
        <p:spPr>
          <a:xfrm>
            <a:off x="146304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Persona sorda → oyente</a:t>
            </a:r>
            <a:endParaRPr lang="en-US" sz="1800" dirty="0"/>
          </a:p>
        </p:txBody>
      </p:sp>
      <p:sp>
        <p:nvSpPr>
          <p:cNvPr id="7" name="Flujo 1 detalle"/>
          <p:cNvSpPr txBox="1"/>
          <p:nvPr/>
        </p:nvSpPr>
        <p:spPr>
          <a:xfrm>
            <a:off x="4297680" y="1463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Elige una frase; se muestra el texto y se puede reproducir audio.</a:t>
            </a:r>
            <a:endParaRPr lang="en-US" sz="1600" dirty="0"/>
          </a:p>
        </p:txBody>
      </p:sp>
      <p:sp>
        <p:nvSpPr>
          <p:cNvPr id="8" name="Flujo 2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Insignia flujo 2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nsignia flujo 2 número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Flujo 2 título"/>
          <p:cNvSpPr txBox="1"/>
          <p:nvPr/>
        </p:nvSpPr>
        <p:spPr>
          <a:xfrm>
            <a:off x="146304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Persona oyente → persona sorda</a:t>
            </a:r>
            <a:endParaRPr lang="en-US" sz="1800" dirty="0"/>
          </a:p>
        </p:txBody>
      </p:sp>
      <p:sp>
        <p:nvSpPr>
          <p:cNvPr id="12" name="Flujo 2 detalle"/>
          <p:cNvSpPr txBox="1"/>
          <p:nvPr/>
        </p:nvSpPr>
        <p:spPr>
          <a:xfrm>
            <a:off x="429768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Elige una frase y se presenta un video asociado en LSC.</a:t>
            </a:r>
            <a:endParaRPr lang="en-US" sz="1600" dirty="0"/>
          </a:p>
        </p:txBody>
      </p:sp>
      <p:sp>
        <p:nvSpPr>
          <p:cNvPr id="13" name="Flujo 3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Insignia flujo 3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nsignia flujo 3 número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Flujo 3 título"/>
          <p:cNvSpPr txBox="1"/>
          <p:nvPr/>
        </p:nvSpPr>
        <p:spPr>
          <a:xfrm>
            <a:off x="146304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Mensaje no predefinido</a:t>
            </a:r>
            <a:endParaRPr lang="en-US" sz="1800" dirty="0"/>
          </a:p>
        </p:txBody>
      </p:sp>
      <p:sp>
        <p:nvSpPr>
          <p:cNvPr id="17" name="Flujo 3 detalle"/>
          <p:cNvSpPr txBox="1"/>
          <p:nvPr/>
        </p:nvSpPr>
        <p:spPr>
          <a:xfrm>
            <a:off x="4297680" y="3657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escribe el texto y se lee en voz sintética, si el dispositivo lo permite.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Maqueta inicial</a:t>
            </a:r>
            <a:endParaRPr lang="en-US" sz="3600" dirty="0"/>
          </a:p>
        </p:txBody>
      </p:sp>
      <p:sp>
        <p:nvSpPr>
          <p:cNvPr id="3" name="Módulo 1"/>
          <p:cNvSpPr/>
          <p:nvPr/>
        </p:nvSpPr>
        <p:spPr>
          <a:xfrm>
            <a:off x="548640" y="137160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signia módulo 1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nia módulo 1 número"/>
          <p:cNvSpPr txBox="1"/>
          <p:nvPr/>
        </p:nvSpPr>
        <p:spPr>
          <a:xfrm>
            <a:off x="7772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Módulo 1 texto"/>
          <p:cNvSpPr txBox="1"/>
          <p:nvPr/>
        </p:nvSpPr>
        <p:spPr>
          <a:xfrm>
            <a:off x="1463040" y="1508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Panel de frases básicas</a:t>
            </a:r>
            <a:endParaRPr lang="en-US" sz="1800" dirty="0"/>
          </a:p>
        </p:txBody>
      </p:sp>
      <p:sp>
        <p:nvSpPr>
          <p:cNvPr id="7" name="Módulo 2"/>
          <p:cNvSpPr/>
          <p:nvPr/>
        </p:nvSpPr>
        <p:spPr>
          <a:xfrm>
            <a:off x="4663440" y="137160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nsignia módulo 2"/>
          <p:cNvSpPr/>
          <p:nvPr/>
        </p:nvSpPr>
        <p:spPr>
          <a:xfrm>
            <a:off x="4892040" y="17190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nsignia módulo 2 número"/>
          <p:cNvSpPr txBox="1"/>
          <p:nvPr/>
        </p:nvSpPr>
        <p:spPr>
          <a:xfrm>
            <a:off x="48920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Módulo 2 texto"/>
          <p:cNvSpPr txBox="1"/>
          <p:nvPr/>
        </p:nvSpPr>
        <p:spPr>
          <a:xfrm>
            <a:off x="5577840" y="1508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Consulta de videos LSC asociados</a:t>
            </a:r>
            <a:endParaRPr lang="en-US" sz="1800" dirty="0"/>
          </a:p>
        </p:txBody>
      </p:sp>
      <p:sp>
        <p:nvSpPr>
          <p:cNvPr id="11" name="Módulo 3"/>
          <p:cNvSpPr/>
          <p:nvPr/>
        </p:nvSpPr>
        <p:spPr>
          <a:xfrm>
            <a:off x="548640" y="274320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Insignia módulo 3"/>
          <p:cNvSpPr/>
          <p:nvPr/>
        </p:nvSpPr>
        <p:spPr>
          <a:xfrm>
            <a:off x="777240" y="30906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signia módulo 3 número"/>
          <p:cNvSpPr txBox="1"/>
          <p:nvPr/>
        </p:nvSpPr>
        <p:spPr>
          <a:xfrm>
            <a:off x="7772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Módulo 3 texto"/>
          <p:cNvSpPr txBox="1"/>
          <p:nvPr/>
        </p:nvSpPr>
        <p:spPr>
          <a:xfrm>
            <a:off x="146304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Texto libre con reproducción de voz</a:t>
            </a:r>
            <a:endParaRPr lang="en-US" sz="1800" dirty="0"/>
          </a:p>
        </p:txBody>
      </p:sp>
      <p:sp>
        <p:nvSpPr>
          <p:cNvPr id="15" name="Módulo 4"/>
          <p:cNvSpPr/>
          <p:nvPr/>
        </p:nvSpPr>
        <p:spPr>
          <a:xfrm>
            <a:off x="4663440" y="274320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nsignia módulo 4"/>
          <p:cNvSpPr/>
          <p:nvPr/>
        </p:nvSpPr>
        <p:spPr>
          <a:xfrm>
            <a:off x="4892040" y="30906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Insignia módulo 4 número"/>
          <p:cNvSpPr txBox="1"/>
          <p:nvPr/>
        </p:nvSpPr>
        <p:spPr>
          <a:xfrm>
            <a:off x="48920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Módulo 4 texto"/>
          <p:cNvSpPr txBox="1"/>
          <p:nvPr/>
        </p:nvSpPr>
        <p:spPr>
          <a:xfrm>
            <a:off x="557784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Vista administrativa ilustrativa</a:t>
            </a:r>
            <a:endParaRPr lang="en-US" sz="1800" dirty="0"/>
          </a:p>
        </p:txBody>
      </p:sp>
      <p:sp>
        <p:nvSpPr>
          <p:cNvPr id="19" name="Nota"/>
          <p:cNvSpPr txBox="1"/>
          <p:nvPr/>
        </p:nvSpPr>
        <p:spPr>
          <a:xfrm>
            <a:off x="54864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La maqueta demuestra navegación; no es aún un traductor automático completo.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Lo que necesitamos validar</a:t>
            </a:r>
            <a:endParaRPr lang="en-US" sz="3600" dirty="0"/>
          </a:p>
        </p:txBody>
      </p:sp>
      <p:sp>
        <p:nvSpPr>
          <p:cNvPr id="3" name="Pregunta 1"/>
          <p:cNvSpPr/>
          <p:nvPr/>
        </p:nvSpPr>
        <p:spPr>
          <a:xfrm>
            <a:off x="548640" y="146304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igno 1"/>
          <p:cNvSpPr txBox="1"/>
          <p:nvPr/>
        </p:nvSpPr>
        <p:spPr>
          <a:xfrm>
            <a:off x="77724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?</a:t>
            </a:r>
            <a:endParaRPr lang="en-US" sz="5400" dirty="0"/>
          </a:p>
        </p:txBody>
      </p:sp>
      <p:sp>
        <p:nvSpPr>
          <p:cNvPr id="5" name="Pregunta 1 texto"/>
          <p:cNvSpPr txBox="1"/>
          <p:nvPr/>
        </p:nvSpPr>
        <p:spPr>
          <a:xfrm>
            <a:off x="777240" y="2560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¿Cuál es el escenario de uso más importante?</a:t>
            </a:r>
            <a:endParaRPr lang="en-US" sz="1800" dirty="0"/>
          </a:p>
        </p:txBody>
      </p:sp>
      <p:sp>
        <p:nvSpPr>
          <p:cNvPr id="6" name="Pregunta 2"/>
          <p:cNvSpPr/>
          <p:nvPr/>
        </p:nvSpPr>
        <p:spPr>
          <a:xfrm>
            <a:off x="3291840" y="146304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igno 2"/>
          <p:cNvSpPr txBox="1"/>
          <p:nvPr/>
        </p:nvSpPr>
        <p:spPr>
          <a:xfrm>
            <a:off x="352044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?</a:t>
            </a:r>
            <a:endParaRPr lang="en-US" sz="5400" dirty="0"/>
          </a:p>
        </p:txBody>
      </p:sp>
      <p:sp>
        <p:nvSpPr>
          <p:cNvPr id="8" name="Pregunta 2 texto"/>
          <p:cNvSpPr txBox="1"/>
          <p:nvPr/>
        </p:nvSpPr>
        <p:spPr>
          <a:xfrm>
            <a:off x="3520440" y="2560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¿Qué restricciones existen?</a:t>
            </a:r>
            <a:endParaRPr lang="en-US" sz="1800" dirty="0"/>
          </a:p>
        </p:txBody>
      </p:sp>
      <p:sp>
        <p:nvSpPr>
          <p:cNvPr id="9" name="Pregunta 3"/>
          <p:cNvSpPr/>
          <p:nvPr/>
        </p:nvSpPr>
        <p:spPr>
          <a:xfrm>
            <a:off x="6035040" y="1463040"/>
            <a:ext cx="2560320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igno 3"/>
          <p:cNvSpPr txBox="1"/>
          <p:nvPr/>
        </p:nvSpPr>
        <p:spPr>
          <a:xfrm>
            <a:off x="626364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?</a:t>
            </a:r>
            <a:endParaRPr lang="en-US" sz="5400" dirty="0"/>
          </a:p>
        </p:txBody>
      </p:sp>
      <p:sp>
        <p:nvSpPr>
          <p:cNvPr id="11" name="Pregunta 3 texto"/>
          <p:cNvSpPr txBox="1"/>
          <p:nvPr/>
        </p:nvSpPr>
        <p:spPr>
          <a:xfrm>
            <a:off x="6263640" y="2560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¿Quién valida los contenidos en LSC?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Próximos pasos</a:t>
            </a:r>
            <a:endParaRPr lang="en-US" sz="3600" dirty="0"/>
          </a:p>
        </p:txBody>
      </p:sp>
      <p:sp>
        <p:nvSpPr>
          <p:cNvPr id="3" name="Paso 1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signia paso 1"/>
          <p:cNvSpPr/>
          <p:nvPr/>
        </p:nvSpPr>
        <p:spPr>
          <a:xfrm>
            <a:off x="777240" y="1499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nia paso 1 número"/>
          <p:cNvSpPr txBox="1"/>
          <p:nvPr/>
        </p:nvSpPr>
        <p:spPr>
          <a:xfrm>
            <a:off x="777240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so 1 texto"/>
          <p:cNvSpPr txBox="1"/>
          <p:nvPr/>
        </p:nvSpPr>
        <p:spPr>
          <a:xfrm>
            <a:off x="1508760" y="1417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Registrar sus comentarios y decisiones.</a:t>
            </a:r>
            <a:endParaRPr lang="en-US" sz="1800" dirty="0"/>
          </a:p>
        </p:txBody>
      </p:sp>
      <p:sp>
        <p:nvSpPr>
          <p:cNvPr id="7" name="Paso 2"/>
          <p:cNvSpPr/>
          <p:nvPr/>
        </p:nvSpPr>
        <p:spPr>
          <a:xfrm>
            <a:off x="548640" y="224028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nsignia paso 2"/>
          <p:cNvSpPr/>
          <p:nvPr/>
        </p:nvSpPr>
        <p:spPr>
          <a:xfrm>
            <a:off x="777240" y="236829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nsignia paso 2 número"/>
          <p:cNvSpPr txBox="1"/>
          <p:nvPr/>
        </p:nvSpPr>
        <p:spPr>
          <a:xfrm>
            <a:off x="77724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Paso 2 texto"/>
          <p:cNvSpPr txBox="1"/>
          <p:nvPr/>
        </p:nvSpPr>
        <p:spPr>
          <a:xfrm>
            <a:off x="1508760" y="2286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Actualizar contexto, actores, modelos y maqueta en máximo 48 horas.</a:t>
            </a:r>
            <a:endParaRPr lang="en-US" sz="1800" dirty="0"/>
          </a:p>
        </p:txBody>
      </p:sp>
      <p:sp>
        <p:nvSpPr>
          <p:cNvPr id="11" name="Paso 3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Insignia paso 3"/>
          <p:cNvSpPr/>
          <p:nvPr/>
        </p:nvSpPr>
        <p:spPr>
          <a:xfrm>
            <a:off x="777240" y="323697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signia paso 3 número"/>
          <p:cNvSpPr txBox="1"/>
          <p:nvPr/>
        </p:nvSpPr>
        <p:spPr>
          <a:xfrm>
            <a:off x="777240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Paso 3 texto"/>
          <p:cNvSpPr txBox="1"/>
          <p:nvPr/>
        </p:nvSpPr>
        <p:spPr>
          <a:xfrm>
            <a:off x="150876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Acordar una revisión de la próxima entrega.</a:t>
            </a:r>
            <a:endParaRPr lang="en-US" sz="1800" dirty="0"/>
          </a:p>
        </p:txBody>
      </p:sp>
      <p:sp>
        <p:nvSpPr>
          <p:cNvPr id="15" name="Agradecimiento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¡Gracias por su tiempo!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OB">
  <a:themeElements>
    <a:clrScheme name="SICOB">
      <a:dk1>
        <a:srgbClr val="101827"/>
      </a:dk1>
      <a:lt1>
        <a:srgbClr val="F5F7FB"/>
      </a:lt1>
      <a:dk2>
        <a:srgbClr val="1B2740"/>
      </a:dk2>
      <a:lt2>
        <a:srgbClr val="C2CADA"/>
      </a:lt2>
      <a:accent1>
        <a:srgbClr val="83D7D0"/>
      </a:accent1>
      <a:accent2>
        <a:srgbClr val="5BB5AD"/>
      </a:accent2>
      <a:accent3>
        <a:srgbClr val="E8B04B"/>
      </a:accent3>
      <a:accent4>
        <a:srgbClr val="7C9EF0"/>
      </a:accent4>
      <a:accent5>
        <a:srgbClr val="C58AF0"/>
      </a:accent5>
      <a:accent6>
        <a:srgbClr val="F08A8A"/>
      </a:accent6>
      <a:hlink>
        <a:srgbClr val="83D7D0"/>
      </a:hlink>
      <a:folHlink>
        <a:srgbClr val="C2CADA"/>
      </a:folHlink>
    </a:clrScheme>
    <a:fontScheme name="SICO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SICOB — Primera entrevista</dc:title>
  <dc:subject>PptxGenJS Presentation</dc:subject>
  <dc:creator>Juan Hernandez, Willy Saenz, Joseph Martinez, Javier Vesga</dc:creator>
  <cp:lastModifiedBy>Juan Hernandez, Willy Saenz, Joseph Martinez, Javier Vesga</cp:lastModifiedBy>
  <cp:revision>1</cp:revision>
  <dcterms:created xsi:type="dcterms:W3CDTF">2026-10-25T03:41:04Z</dcterms:created>
  <dcterms:modified xsi:type="dcterms:W3CDTF">2026-10-25T03:41:04Z</dcterms:modified>
</cp:coreProperties>
</file>